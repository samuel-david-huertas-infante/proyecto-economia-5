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35" r:id="rId5"/>
    <p:sldId id="337" r:id="rId6"/>
    <p:sldId id="338" r:id="rId7"/>
    <p:sldId id="348" r:id="rId8"/>
    <p:sldId id="349" r:id="rId9"/>
    <p:sldId id="341" r:id="rId10"/>
    <p:sldId id="340" r:id="rId11"/>
    <p:sldId id="343" r:id="rId12"/>
    <p:sldId id="344" r:id="rId13"/>
    <p:sldId id="345" r:id="rId14"/>
    <p:sldId id="347" r:id="rId1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4173"/>
    <a:srgbClr val="AA4370"/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82" d="100"/>
          <a:sy n="82" d="100"/>
        </p:scale>
        <p:origin x="1238" y="101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F4636F07-0AC9-4F79-B905-B52056AAEFCC}" type="datetime1">
              <a:rPr lang="es-ES" smtClean="0"/>
              <a:t>18/02/2026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9E9D563E-BCB2-465B-8A3C-AC86CE64F69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4:15:0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4:15:1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4:15:1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24575,'7'0'0,"10"0"0,2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4:15:0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26 24575,'-7'0'0,"-9"0"0,-17-7 0,-32-2 0,-4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4:15:0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26 24575,'-7'0'0,"-9"0"0,-17-7 0,-32-2 0,-4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80B6BFF3-16C2-4E56-BBD0-DD214C59E8A5}" type="datetime1">
              <a:rPr lang="es-ES" smtClean="0"/>
              <a:t>18/02/2026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8B990660-4B7D-4C11-96DB-B19FFA8CA9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E480-DF94-014C-F9CA-89AF1D09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AE597F-307F-EADA-569C-E98E2D945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7F3406-8751-47E3-F63F-57FDA76B2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5D606-F268-855C-E4E9-01F3C0892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2100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589F-80BC-CE98-53F3-D98C05FE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E828B4-9954-C46E-36CA-8720CC7A7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07AA93-95CA-00DA-5B39-58071E80D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F641AD-A022-51F7-2F9C-8D227FCF7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90641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858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76574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es-ES" sz="4000" b="1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800"/>
            </a:lvl1pPr>
            <a:lvl2pPr marL="457200" indent="0">
              <a:buNone/>
              <a:defRPr lang="es-ES" sz="2400"/>
            </a:lvl2pPr>
            <a:lvl3pPr marL="914400" indent="0">
              <a:buNone/>
              <a:defRPr lang="es-ES" sz="2000"/>
            </a:lvl3pPr>
            <a:lvl4pPr marL="1371600" indent="0">
              <a:buNone/>
              <a:defRPr lang="es-ES" sz="1800"/>
            </a:lvl4pPr>
            <a:lvl5pPr marL="1828800" indent="0">
              <a:buNone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75" name="Marcador de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es-ES" sz="2800"/>
            </a:lvl1pPr>
            <a:lvl2pPr marL="457200" indent="0">
              <a:lnSpc>
                <a:spcPts val="2400"/>
              </a:lnSpc>
              <a:buNone/>
              <a:defRPr lang="es-ES" sz="2000"/>
            </a:lvl2pPr>
            <a:lvl3pPr marL="914400" indent="0">
              <a:lnSpc>
                <a:spcPts val="2400"/>
              </a:lnSpc>
              <a:buNone/>
              <a:defRPr lang="es-ES" sz="2000"/>
            </a:lvl3pPr>
            <a:lvl4pPr marL="1371600" indent="0">
              <a:lnSpc>
                <a:spcPts val="2400"/>
              </a:lnSpc>
              <a:buNone/>
              <a:defRPr lang="es-ES" sz="2000"/>
            </a:lvl4pPr>
            <a:lvl5pPr marL="1828800" indent="0">
              <a:lnSpc>
                <a:spcPts val="2400"/>
              </a:lnSpc>
              <a:buNone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  <a:lvl6pPr marL="1600200">
              <a:defRPr lang="es-ES"/>
            </a:lvl6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4" rtl="0"/>
            <a:r>
              <a:rPr lang="es-ES"/>
              <a:t>Cuarto nivel</a:t>
            </a:r>
          </a:p>
          <a:p>
            <a:pPr lvl="5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es-ES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es-ES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es-ES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es-ES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es-ES"/>
            </a:lvl1pPr>
            <a:lvl2pPr>
              <a:spcBef>
                <a:spcPts val="0"/>
              </a:spcBef>
              <a:spcAft>
                <a:spcPts val="600"/>
              </a:spcAft>
              <a:defRPr lang="es-ES"/>
            </a:lvl2pPr>
            <a:lvl3pPr>
              <a:spcBef>
                <a:spcPts val="0"/>
              </a:spcBef>
              <a:spcAft>
                <a:spcPts val="600"/>
              </a:spcAft>
              <a:defRPr lang="es-ES"/>
            </a:lvl3pPr>
            <a:lvl4pPr>
              <a:spcBef>
                <a:spcPts val="0"/>
              </a:spcBef>
              <a:spcAft>
                <a:spcPts val="600"/>
              </a:spcAft>
              <a:defRPr lang="es-ES" sz="2000"/>
            </a:lvl4pPr>
            <a:lvl5pPr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 noProof="0" dirty="0"/>
              <a:t>Haga clic para agregar un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r>
              <a:rPr lang="es-ES" dirty="0"/>
              <a:t>Determinantes Socioeconómicos de la Inclusión Financiera en Colombia: Evidencia a partir de la GEIH</a:t>
            </a:r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D200C2-35EC-6C16-0564-293BDAE457BD}"/>
              </a:ext>
            </a:extLst>
          </p:cNvPr>
          <p:cNvSpPr txBox="1"/>
          <p:nvPr/>
        </p:nvSpPr>
        <p:spPr>
          <a:xfrm>
            <a:off x="6427694" y="4814322"/>
            <a:ext cx="5844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Andrés Santiago Cristiano Trujillo</a:t>
            </a:r>
            <a:br>
              <a:rPr lang="es-ES" dirty="0"/>
            </a:br>
            <a:r>
              <a:rPr lang="es-ES" dirty="0"/>
              <a:t>Marleny Fidelina Cuaspud </a:t>
            </a:r>
            <a:r>
              <a:rPr lang="es-ES" dirty="0" err="1"/>
              <a:t>Tarapues</a:t>
            </a:r>
            <a:endParaRPr lang="es-ES" dirty="0"/>
          </a:p>
          <a:p>
            <a:r>
              <a:rPr lang="es-ES" dirty="0"/>
              <a:t>Samuel David Huertas Infante</a:t>
            </a:r>
          </a:p>
          <a:p>
            <a:r>
              <a:rPr lang="es-ES" dirty="0" err="1"/>
              <a:t>Katherin</a:t>
            </a:r>
            <a:r>
              <a:rPr lang="es-ES" dirty="0"/>
              <a:t> Alejandra Pérez Martínez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150D307-1032-17F2-027A-994D40F19D7C}"/>
                  </a:ext>
                </a:extLst>
              </p14:cNvPr>
              <p14:cNvContentPartPr/>
              <p14:nvPr/>
            </p14:nvContentPartPr>
            <p14:xfrm>
              <a:off x="8991240" y="2316120"/>
              <a:ext cx="36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150D307-1032-17F2-027A-994D40F19D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2240" y="23071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2F5F47B4-FE3E-A482-7F1D-8392D041D62C}"/>
                  </a:ext>
                </a:extLst>
              </p14:cNvPr>
              <p14:cNvContentPartPr/>
              <p14:nvPr/>
            </p14:nvContentPartPr>
            <p14:xfrm>
              <a:off x="-2271000" y="-1188720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2F5F47B4-FE3E-A482-7F1D-8392D041D6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280000" y="-11977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FED16719-0450-A71A-413E-B28B3C6527C6}"/>
                  </a:ext>
                </a:extLst>
              </p14:cNvPr>
              <p14:cNvContentPartPr/>
              <p14:nvPr/>
            </p14:nvContentPartPr>
            <p14:xfrm>
              <a:off x="-2271000" y="-1203840"/>
              <a:ext cx="15840" cy="3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FED16719-0450-A71A-413E-B28B3C6527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2280000" y="-1212840"/>
                <a:ext cx="334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4822"/>
            <a:ext cx="5864352" cy="76056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objetivo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6FBC99E-397A-0E48-C796-BECAABC65C69}"/>
              </a:ext>
            </a:extLst>
          </p:cNvPr>
          <p:cNvSpPr txBox="1">
            <a:spLocks/>
          </p:cNvSpPr>
          <p:nvPr/>
        </p:nvSpPr>
        <p:spPr>
          <a:xfrm>
            <a:off x="-8964" y="2009887"/>
            <a:ext cx="7288306" cy="3493008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Analizar los determinantes socioeconómicos que explican la probabilidad de inclusión financiera de los hogares colombianos, utilizando microdatos de la Encuesta Grande Integrada de Hogares (GEIH).</a:t>
            </a:r>
            <a:r>
              <a:rPr lang="es-ES" b="1" dirty="0"/>
              <a:t> </a:t>
            </a:r>
            <a:endParaRPr lang="es-CO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E8554DF-819D-A8C5-BD39-232937EA5B5C}"/>
              </a:ext>
            </a:extLst>
          </p:cNvPr>
          <p:cNvSpPr/>
          <p:nvPr/>
        </p:nvSpPr>
        <p:spPr>
          <a:xfrm>
            <a:off x="-8965" y="5273040"/>
            <a:ext cx="7619439" cy="1584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Marcador de posición de 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E5A0D918-A6E2-52EB-2E9A-0F6D4D16D2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5558" b="5558"/>
          <a:stretch/>
        </p:blipFill>
        <p:spPr>
          <a:xfrm>
            <a:off x="7610474" y="0"/>
            <a:ext cx="4581525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14546DD-A6F1-7EBC-76C8-CEB86C7F1C79}"/>
              </a:ext>
            </a:extLst>
          </p:cNvPr>
          <p:cNvSpPr/>
          <p:nvPr/>
        </p:nvSpPr>
        <p:spPr>
          <a:xfrm>
            <a:off x="8047229" y="4739640"/>
            <a:ext cx="4144771" cy="869935"/>
          </a:xfrm>
          <a:prstGeom prst="rect">
            <a:avLst/>
          </a:prstGeom>
          <a:solidFill>
            <a:srgbClr val="A741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761BC935-2AFD-5D9B-D01D-4796755A3318}"/>
                  </a:ext>
                </a:extLst>
              </p14:cNvPr>
              <p14:cNvContentPartPr/>
              <p14:nvPr/>
            </p14:nvContentPartPr>
            <p14:xfrm>
              <a:off x="-6179880" y="-893640"/>
              <a:ext cx="68760" cy="972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761BC935-2AFD-5D9B-D01D-4796755A33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188880" y="-902280"/>
                <a:ext cx="8640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833" y="74688"/>
            <a:ext cx="5273040" cy="143560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contexto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27C528-8C73-008C-A8AD-B7321D9701AA}"/>
              </a:ext>
            </a:extLst>
          </p:cNvPr>
          <p:cNvSpPr/>
          <p:nvPr/>
        </p:nvSpPr>
        <p:spPr>
          <a:xfrm>
            <a:off x="4572561" y="5273040"/>
            <a:ext cx="7619439" cy="1584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FBFB5E70-4D23-9168-E5C3-AAA5928EBE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29F6FB72-0D69-EE39-BDF9-3C69D3BE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97" r="16597"/>
          <a:stretch/>
        </p:blipFill>
        <p:spPr>
          <a:xfrm>
            <a:off x="-15240" y="-15240"/>
            <a:ext cx="4581525" cy="6858000"/>
          </a:xfrm>
          <a:prstGeom prst="rect">
            <a:avLst/>
          </a:prstGeom>
        </p:spPr>
      </p:pic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4BB4EEDE-D6AA-063D-084E-53CAECA84C13}"/>
              </a:ext>
            </a:extLst>
          </p:cNvPr>
          <p:cNvSpPr txBox="1">
            <a:spLocks/>
          </p:cNvSpPr>
          <p:nvPr/>
        </p:nvSpPr>
        <p:spPr>
          <a:xfrm>
            <a:off x="4736593" y="2060472"/>
            <a:ext cx="7242048" cy="2104913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Baja inclusión financiera históricamente en Colombia</a:t>
            </a:r>
          </a:p>
          <a:p>
            <a:r>
              <a:rPr lang="es-MX" dirty="0"/>
              <a:t>Brechas Urbano-Rurales</a:t>
            </a:r>
          </a:p>
          <a:p>
            <a:r>
              <a:rPr lang="es-MX" dirty="0"/>
              <a:t>Crecimiento de billeteras digitales como </a:t>
            </a:r>
            <a:r>
              <a:rPr lang="es-MX" dirty="0" err="1"/>
              <a:t>Nequi</a:t>
            </a:r>
            <a:r>
              <a:rPr lang="es-MX" dirty="0"/>
              <a:t>, </a:t>
            </a:r>
            <a:r>
              <a:rPr lang="es-MX" dirty="0" err="1"/>
              <a:t>Daviplata</a:t>
            </a:r>
            <a:r>
              <a:rPr lang="es-MX" dirty="0"/>
              <a:t>, Dale, etc.</a:t>
            </a:r>
          </a:p>
          <a:p>
            <a:r>
              <a:rPr lang="es-MX" dirty="0"/>
              <a:t>Digitalización acelerada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C933-7E43-96AE-8B9B-B699152D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47105-4872-E998-E5A0-63A2068E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833" y="74688"/>
            <a:ext cx="5273040" cy="143560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Descripción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FF13767-13E8-CC96-10FB-5BCEE030DBA1}"/>
              </a:ext>
            </a:extLst>
          </p:cNvPr>
          <p:cNvSpPr/>
          <p:nvPr/>
        </p:nvSpPr>
        <p:spPr>
          <a:xfrm>
            <a:off x="4566285" y="5273040"/>
            <a:ext cx="7625715" cy="1584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EC91E634-692E-8293-32A0-97C7E0E7E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5BB01AFB-696A-8C52-1B85-3E6801652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15" b="13315"/>
          <a:stretch/>
        </p:blipFill>
        <p:spPr>
          <a:xfrm>
            <a:off x="-15240" y="-15240"/>
            <a:ext cx="4581525" cy="6858000"/>
          </a:xfrm>
          <a:prstGeom prst="rect">
            <a:avLst/>
          </a:prstGeom>
        </p:spPr>
      </p:pic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AEF24C81-DA4F-A6D4-3480-B884198DCF00}"/>
              </a:ext>
            </a:extLst>
          </p:cNvPr>
          <p:cNvSpPr txBox="1">
            <a:spLocks/>
          </p:cNvSpPr>
          <p:nvPr/>
        </p:nvSpPr>
        <p:spPr>
          <a:xfrm>
            <a:off x="4736593" y="2060472"/>
            <a:ext cx="7242048" cy="2104913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Datos microeconómicos</a:t>
            </a:r>
          </a:p>
          <a:p>
            <a:r>
              <a:rPr lang="es-CO" dirty="0"/>
              <a:t>Modelos supervisados</a:t>
            </a:r>
          </a:p>
          <a:p>
            <a:r>
              <a:rPr lang="es-CO" dirty="0"/>
              <a:t>Comparación predictiva</a:t>
            </a:r>
          </a:p>
          <a:p>
            <a:r>
              <a:rPr lang="es-CO" dirty="0"/>
              <a:t>Interpretación económica</a:t>
            </a:r>
          </a:p>
          <a:p>
            <a:r>
              <a:rPr lang="es-CO" dirty="0"/>
              <a:t>Econometría y Machine </a:t>
            </a:r>
            <a:r>
              <a:rPr lang="es-CO" dirty="0" err="1"/>
              <a:t>Learning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139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4850-C635-947A-9794-A50C8A30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18EA6-4059-17FF-5A2C-99039E8D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4822"/>
            <a:ext cx="5864352" cy="76056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desafíos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D78F0D-9237-C308-EC8E-6AA41EF4562E}"/>
              </a:ext>
            </a:extLst>
          </p:cNvPr>
          <p:cNvSpPr/>
          <p:nvPr/>
        </p:nvSpPr>
        <p:spPr>
          <a:xfrm>
            <a:off x="-8965" y="5273040"/>
            <a:ext cx="7619439" cy="1584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Marcador de posición de 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F6E90D70-B698-F3A0-ED3E-35098AA6EC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5558" b="5558"/>
          <a:stretch/>
        </p:blipFill>
        <p:spPr>
          <a:xfrm>
            <a:off x="7610474" y="0"/>
            <a:ext cx="4581525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FD056D1-5C89-D642-65EE-61D40A062DA2}"/>
              </a:ext>
            </a:extLst>
          </p:cNvPr>
          <p:cNvSpPr/>
          <p:nvPr/>
        </p:nvSpPr>
        <p:spPr>
          <a:xfrm>
            <a:off x="8047229" y="4739640"/>
            <a:ext cx="4144771" cy="869935"/>
          </a:xfrm>
          <a:prstGeom prst="rect">
            <a:avLst/>
          </a:prstGeom>
          <a:solidFill>
            <a:srgbClr val="A741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65A8D4BF-9164-A3A7-2E93-A73964C50AAA}"/>
                  </a:ext>
                </a:extLst>
              </p14:cNvPr>
              <p14:cNvContentPartPr/>
              <p14:nvPr/>
            </p14:nvContentPartPr>
            <p14:xfrm>
              <a:off x="-6179880" y="-893640"/>
              <a:ext cx="68760" cy="972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65A8D4BF-9164-A3A7-2E93-A73964C50A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188880" y="-902986"/>
                <a:ext cx="86400" cy="28038"/>
              </a:xfrm>
              <a:prstGeom prst="rect">
                <a:avLst/>
              </a:prstGeom>
            </p:spPr>
          </p:pic>
        </mc:Fallback>
      </mc:AlternateContent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5D00FD59-D177-1412-D29D-0BDFCEDC51B0}"/>
              </a:ext>
            </a:extLst>
          </p:cNvPr>
          <p:cNvSpPr txBox="1">
            <a:spLocks/>
          </p:cNvSpPr>
          <p:nvPr/>
        </p:nvSpPr>
        <p:spPr>
          <a:xfrm>
            <a:off x="0" y="2376543"/>
            <a:ext cx="7242048" cy="2104913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Sesgo de selección</a:t>
            </a:r>
          </a:p>
          <a:p>
            <a:r>
              <a:rPr lang="es-MX" dirty="0"/>
              <a:t>Endogeneidad</a:t>
            </a:r>
          </a:p>
          <a:p>
            <a:r>
              <a:rPr lang="es-MX" dirty="0"/>
              <a:t>Datos faltantes</a:t>
            </a:r>
          </a:p>
          <a:p>
            <a:r>
              <a:rPr lang="es-MX" dirty="0"/>
              <a:t>Medición de inclusión financiera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053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Entrega de valor y </a:t>
            </a:r>
            <a:r>
              <a:rPr lang="es-ES" dirty="0" err="1"/>
              <a:t>stakeholders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678095" cy="2102485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r>
              <a:rPr lang="es-MX" dirty="0"/>
              <a:t>El proyecto generará evidencia sobre las brechas socioeconómicas que explican la exclusión financiera en Colombia, identificará a los grupos más vulnerables y ofrecerá insumos técnicos para el diseño de políticas públicas que promuevan un acceso equitativo al sistema financiero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3064" y="4257675"/>
            <a:ext cx="4887594" cy="2600325"/>
          </a:xfrm>
        </p:spPr>
        <p:txBody>
          <a:bodyPr rtlCol="0">
            <a:normAutofit fontScale="92500" lnSpcReduction="10000"/>
          </a:bodyPr>
          <a:lstStyle>
            <a:defPPr>
              <a:defRPr lang="es-ES"/>
            </a:defPPr>
          </a:lstStyle>
          <a:p>
            <a:pPr marL="0" lvl="1" indent="0" rtl="0">
              <a:buNone/>
            </a:pPr>
            <a:r>
              <a:rPr lang="es-ES" sz="2200" b="1" dirty="0">
                <a:latin typeface="Avenir Next LT Pro Demi" panose="020F0502020204030204" pitchFamily="34" charset="0"/>
              </a:rPr>
              <a:t>DECISORES</a:t>
            </a:r>
          </a:p>
          <a:p>
            <a:pPr lvl="1" rtl="0"/>
            <a:r>
              <a:rPr lang="es-ES" dirty="0"/>
              <a:t>Ministerio de hacienda</a:t>
            </a:r>
          </a:p>
          <a:p>
            <a:pPr lvl="1" rtl="0"/>
            <a:r>
              <a:rPr lang="es-ES" dirty="0"/>
              <a:t>Superintendencia financiera</a:t>
            </a:r>
          </a:p>
          <a:p>
            <a:pPr lvl="1" rtl="0"/>
            <a:r>
              <a:rPr lang="es-ES" dirty="0"/>
              <a:t>Banco de la república</a:t>
            </a:r>
          </a:p>
          <a:p>
            <a:pPr lvl="1"/>
            <a:r>
              <a:rPr lang="es-ES" dirty="0"/>
              <a:t>Otras entidades responsables de política de inclusión financiera</a:t>
            </a:r>
            <a:r>
              <a:rPr lang="es-ES" b="1" dirty="0"/>
              <a:t> </a:t>
            </a:r>
            <a:endParaRPr lang="es-CO" dirty="0"/>
          </a:p>
          <a:p>
            <a:pPr lvl="1" rtl="0"/>
            <a:endParaRPr lang="es-ES" dirty="0"/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88CAF158-D1C0-F53F-1FB6-0A10CB58F156}"/>
              </a:ext>
            </a:extLst>
          </p:cNvPr>
          <p:cNvSpPr txBox="1">
            <a:spLocks/>
          </p:cNvSpPr>
          <p:nvPr/>
        </p:nvSpPr>
        <p:spPr>
          <a:xfrm>
            <a:off x="6288724" y="2073275"/>
            <a:ext cx="4887594" cy="2600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s-MX" sz="2200" b="1" dirty="0">
                <a:latin typeface="Avenir Next LT Pro Demi" panose="020F0502020204030204" pitchFamily="34" charset="0"/>
              </a:rPr>
              <a:t>AFECTADOS DIRECTOS</a:t>
            </a:r>
          </a:p>
          <a:p>
            <a:pPr lvl="1"/>
            <a:r>
              <a:rPr lang="es-MX" dirty="0"/>
              <a:t>Hogares de bajos ingresos</a:t>
            </a:r>
          </a:p>
          <a:p>
            <a:pPr lvl="1"/>
            <a:r>
              <a:rPr lang="es-MX" dirty="0"/>
              <a:t>Población rural</a:t>
            </a:r>
          </a:p>
          <a:p>
            <a:pPr lvl="1"/>
            <a:r>
              <a:rPr lang="es-MX" dirty="0"/>
              <a:t>Trabajadores informales</a:t>
            </a:r>
          </a:p>
          <a:p>
            <a:pPr lvl="1"/>
            <a:r>
              <a:rPr lang="es-MX" dirty="0"/>
              <a:t>Jóvenes sin historial crediticio</a:t>
            </a:r>
          </a:p>
          <a:p>
            <a:pPr lvl="1"/>
            <a:endParaRPr lang="es-MX" dirty="0"/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C18CDF1F-63B8-08E3-386A-5172BC6C75DE}"/>
              </a:ext>
            </a:extLst>
          </p:cNvPr>
          <p:cNvSpPr txBox="1">
            <a:spLocks/>
          </p:cNvSpPr>
          <p:nvPr/>
        </p:nvSpPr>
        <p:spPr>
          <a:xfrm>
            <a:off x="6288724" y="4491355"/>
            <a:ext cx="4887594" cy="2600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s-MX" sz="2200" b="1" dirty="0">
                <a:latin typeface="Avenir Next LT Pro Demi" panose="020F0502020204030204" pitchFamily="34" charset="0"/>
              </a:rPr>
              <a:t>AFECTADOS INDIRECTOS</a:t>
            </a:r>
          </a:p>
          <a:p>
            <a:pPr lvl="1"/>
            <a:r>
              <a:rPr lang="es-MX" dirty="0"/>
              <a:t>Entidades financieras</a:t>
            </a:r>
          </a:p>
          <a:p>
            <a:pPr lvl="1"/>
            <a:r>
              <a:rPr lang="es-MX" dirty="0"/>
              <a:t>Cooperativas</a:t>
            </a:r>
          </a:p>
          <a:p>
            <a:pPr lvl="1"/>
            <a:r>
              <a:rPr lang="es-MX" dirty="0"/>
              <a:t>Sistema financiero nacional</a:t>
            </a:r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071880"/>
            <a:ext cx="5423731" cy="331689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ESTRATEGIA TECNICA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Técnicas a utilizar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1352" y="1677779"/>
            <a:ext cx="10535113" cy="1954692"/>
          </a:xfrm>
        </p:spPr>
        <p:txBody>
          <a:bodyPr rtlCol="0">
            <a:normAutofit fontScale="92500" lnSpcReduction="10000"/>
          </a:bodyPr>
          <a:lstStyle>
            <a:defPPr>
              <a:defRPr lang="es-ES"/>
            </a:defPPr>
          </a:lstStyle>
          <a:p>
            <a:r>
              <a:rPr lang="es-ES" sz="2800" dirty="0"/>
              <a:t>El proyecto se desarrollará bajo un enfoque cuantitativo. En una primera etapa se realizará un análisis descriptivo para examinar tasas de inclusión financiera por nivel de ingreso, educación y zona geográfica. Posteriormente, se estimará un modelo de regresión logística, dado que la variable dependiente es binaria.</a:t>
            </a:r>
            <a:endParaRPr lang="es-CO" sz="2800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93817478-DA8D-FB3B-43DF-28940F15C3CA}"/>
              </a:ext>
            </a:extLst>
          </p:cNvPr>
          <p:cNvSpPr txBox="1">
            <a:spLocks/>
          </p:cNvSpPr>
          <p:nvPr/>
        </p:nvSpPr>
        <p:spPr>
          <a:xfrm>
            <a:off x="911352" y="3923411"/>
            <a:ext cx="10535113" cy="1954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Modelo general: </a:t>
            </a:r>
            <a:r>
              <a:rPr lang="es-ES" sz="3200" dirty="0" err="1"/>
              <a:t>Inclusión_i</a:t>
            </a:r>
            <a:r>
              <a:rPr lang="es-ES" sz="3200" dirty="0"/>
              <a:t> = β0 + β1 </a:t>
            </a:r>
            <a:r>
              <a:rPr lang="es-ES" sz="3200" dirty="0" err="1"/>
              <a:t>Ingreso_i</a:t>
            </a:r>
            <a:r>
              <a:rPr lang="es-ES" sz="3200" dirty="0"/>
              <a:t> + β2 </a:t>
            </a:r>
            <a:r>
              <a:rPr lang="es-ES" sz="3200" dirty="0" err="1"/>
              <a:t>Educación_i</a:t>
            </a:r>
            <a:r>
              <a:rPr lang="es-ES" sz="3200" dirty="0"/>
              <a:t> + β3 </a:t>
            </a:r>
            <a:r>
              <a:rPr lang="es-ES" sz="3200" dirty="0" err="1"/>
              <a:t>Edad_i</a:t>
            </a:r>
            <a:r>
              <a:rPr lang="es-ES" sz="3200" dirty="0"/>
              <a:t> + β4 </a:t>
            </a:r>
            <a:r>
              <a:rPr lang="es-ES" sz="3200" dirty="0" err="1"/>
              <a:t>Sexo_i</a:t>
            </a:r>
            <a:r>
              <a:rPr lang="es-ES" sz="3200" dirty="0"/>
              <a:t> + β5 </a:t>
            </a:r>
            <a:r>
              <a:rPr lang="es-ES" sz="3200" dirty="0" err="1"/>
              <a:t>Zona_i</a:t>
            </a:r>
            <a:r>
              <a:rPr lang="es-ES" sz="3200" dirty="0"/>
              <a:t> + </a:t>
            </a:r>
            <a:r>
              <a:rPr lang="es-ES" sz="3200" dirty="0" err="1"/>
              <a:t>ε_i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59" y="459296"/>
            <a:ext cx="6172200" cy="1249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Fuentes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1879" y="1955800"/>
            <a:ext cx="3313917" cy="3901758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Encuesta Grande Integrada de Hogares (GEIH) – DANE. </a:t>
            </a:r>
            <a:endParaRPr lang="es-CO" dirty="0"/>
          </a:p>
          <a:p>
            <a:r>
              <a:rPr lang="es-ES" dirty="0"/>
              <a:t>Tipo: Microdatos oficiales. </a:t>
            </a:r>
            <a:endParaRPr lang="es-CO" dirty="0"/>
          </a:p>
          <a:p>
            <a:r>
              <a:rPr lang="es-ES" dirty="0"/>
              <a:t>Cobertura: Nacional. </a:t>
            </a:r>
            <a:endParaRPr lang="es-CO" dirty="0"/>
          </a:p>
          <a:p>
            <a:r>
              <a:rPr lang="es-ES" dirty="0"/>
              <a:t>Año propuesto: 2025. </a:t>
            </a:r>
            <a:endParaRPr lang="es-CO" dirty="0"/>
          </a:p>
          <a:p>
            <a:r>
              <a:rPr lang="es-ES" dirty="0"/>
              <a:t>Nivel de análisis: Individuo y hogar. </a:t>
            </a:r>
            <a:endParaRPr lang="es-CO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6F6E8E9-7C23-682F-AFFA-BB4F378A5CF1}"/>
              </a:ext>
            </a:extLst>
          </p:cNvPr>
          <p:cNvSpPr txBox="1">
            <a:spLocks/>
          </p:cNvSpPr>
          <p:nvPr/>
        </p:nvSpPr>
        <p:spPr>
          <a:xfrm>
            <a:off x="5847079" y="1833880"/>
            <a:ext cx="5166361" cy="3901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/>
              <a:t>La GEIH proporciona información representativa a nivel nacional sobre características demográficas, educación, ingresos, ocupación y acceso a productos financieros formales, lo que permite realizar estimaciones robustas de los determinantes de la inclusión financiera.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Variables </a:t>
            </a: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22E72F4D-E8CA-6F21-D432-96D956881F10}"/>
              </a:ext>
            </a:extLst>
          </p:cNvPr>
          <p:cNvSpPr txBox="1">
            <a:spLocks/>
          </p:cNvSpPr>
          <p:nvPr/>
        </p:nvSpPr>
        <p:spPr>
          <a:xfrm>
            <a:off x="911352" y="1690559"/>
            <a:ext cx="11433048" cy="1326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s-MX" sz="2200" b="1" dirty="0">
                <a:latin typeface="Avenir Next LT Pro Demi" panose="020F0502020204030204" pitchFamily="34" charset="0"/>
              </a:rPr>
              <a:t>VARIABLE DEPENDIENTE</a:t>
            </a:r>
          </a:p>
          <a:p>
            <a:pPr lvl="0"/>
            <a:r>
              <a:rPr lang="es-ES" dirty="0"/>
              <a:t>Inclusión Financiera (1 = posee cuenta bancaria o producto financiero formal; 0 = no posee).</a:t>
            </a:r>
            <a:endParaRPr lang="es-CO" dirty="0"/>
          </a:p>
          <a:p>
            <a:pPr lvl="1"/>
            <a:endParaRPr lang="es-MX" dirty="0"/>
          </a:p>
        </p:txBody>
      </p:sp>
      <p:sp>
        <p:nvSpPr>
          <p:cNvPr id="11" name="Marcador de contenido 4">
            <a:extLst>
              <a:ext uri="{FF2B5EF4-FFF2-40B4-BE49-F238E27FC236}">
                <a16:creationId xmlns:a16="http://schemas.microsoft.com/office/drawing/2014/main" id="{E47982A3-FAF4-A63B-8BA3-2182584AA1AC}"/>
              </a:ext>
            </a:extLst>
          </p:cNvPr>
          <p:cNvSpPr txBox="1">
            <a:spLocks/>
          </p:cNvSpPr>
          <p:nvPr/>
        </p:nvSpPr>
        <p:spPr>
          <a:xfrm>
            <a:off x="911352" y="2703195"/>
            <a:ext cx="5631688" cy="3189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s-MX" sz="2200" b="1" dirty="0">
                <a:latin typeface="Avenir Next LT Pro Demi" panose="020F0502020204030204" pitchFamily="34" charset="0"/>
              </a:rPr>
              <a:t>VARIABLES INDEPENDIENTES</a:t>
            </a:r>
          </a:p>
          <a:p>
            <a:pPr lvl="1"/>
            <a:r>
              <a:rPr lang="es-MX" sz="2200" dirty="0"/>
              <a:t>Ingreso del hogar</a:t>
            </a:r>
          </a:p>
          <a:p>
            <a:pPr lvl="1"/>
            <a:r>
              <a:rPr lang="es-MX" sz="2200" dirty="0"/>
              <a:t>Nivel educativo</a:t>
            </a:r>
          </a:p>
          <a:p>
            <a:pPr lvl="1"/>
            <a:r>
              <a:rPr lang="es-MX" sz="2200" dirty="0"/>
              <a:t>Edad</a:t>
            </a:r>
          </a:p>
          <a:p>
            <a:pPr lvl="1"/>
            <a:r>
              <a:rPr lang="es-MX" sz="2200" dirty="0"/>
              <a:t>Sexo</a:t>
            </a:r>
          </a:p>
          <a:p>
            <a:pPr lvl="1"/>
            <a:r>
              <a:rPr lang="es-MX" sz="2200" dirty="0"/>
              <a:t>Zona urbana/rural</a:t>
            </a:r>
          </a:p>
          <a:p>
            <a:pPr lvl="1"/>
            <a:r>
              <a:rPr lang="es-MX" sz="2200" dirty="0"/>
              <a:t>Condición de ocupación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 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Personalizar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42_TF16411248_Win32" id="{907FDA46-549C-456B-8420-E867E62B2FE6}" vid="{41853330-4B42-4EFA-9F1D-FE1C2158CEF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{C475AEE7-9404-474D-8366-EA84593F5704}TFb05bf529-a1dc-42d5-b9d6-8a1e9569dd9c0c094e88_win32-21cf92011842</Template>
  <TotalTime>57</TotalTime>
  <Words>411</Words>
  <Application>Microsoft Office PowerPoint</Application>
  <PresentationFormat>Panorámica</PresentationFormat>
  <Paragraphs>71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Avenir Next LT Pro Demi</vt:lpstr>
      <vt:lpstr>Avenir Next LT Pro Light</vt:lpstr>
      <vt:lpstr>Calibri</vt:lpstr>
      <vt:lpstr>Posterama</vt:lpstr>
      <vt:lpstr>Personalizar</vt:lpstr>
      <vt:lpstr>Determinantes Socioeconómicos de la Inclusión Financiera en Colombia: Evidencia a partir de la GEIH</vt:lpstr>
      <vt:lpstr>objetivo</vt:lpstr>
      <vt:lpstr>contexto</vt:lpstr>
      <vt:lpstr>Descripción</vt:lpstr>
      <vt:lpstr>desafíos</vt:lpstr>
      <vt:lpstr>Entrega de valor y stakeholders</vt:lpstr>
      <vt:lpstr>ESTRATEGIA TECNICA</vt:lpstr>
      <vt:lpstr>Técnicas a utilizar </vt:lpstr>
      <vt:lpstr>Fuentes de datos</vt:lpstr>
      <vt:lpstr>Variables 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Huertas</dc:creator>
  <cp:lastModifiedBy>Samuel Huertas</cp:lastModifiedBy>
  <cp:revision>2</cp:revision>
  <dcterms:created xsi:type="dcterms:W3CDTF">2026-02-19T03:45:41Z</dcterms:created>
  <dcterms:modified xsi:type="dcterms:W3CDTF">2026-02-19T04:47:44Z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